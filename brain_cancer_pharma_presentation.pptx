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1996928" cy="21945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1097280"/>
            <a:ext cx="3657600" cy="36576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548640"/>
            <a:ext cx="2011680" cy="201168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4114800"/>
            <a:ext cx="1097280" cy="109728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38912"/>
            <a:ext cx="2377440" cy="256032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0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6B6D4"/>
                </a:solidFill>
              </a:rPr>
              <a:t>PHARMACEUTICAL MARKET RESEARCH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Cancer &amp;</a:t>
            </a:r>
            <a:endParaRPr lang="en-US" sz="4600" dirty="0"/>
          </a:p>
          <a:p>
            <a:pPr indent="0" marL="0">
              <a:buNone/>
            </a:pPr>
            <a:r>
              <a:rPr lang="en-US" sz="46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Tumor Pharma</a:t>
            </a:r>
            <a:endParaRPr lang="en-US" sz="4600" dirty="0"/>
          </a:p>
          <a:p>
            <a:pPr indent="0" marL="0">
              <a:buNone/>
            </a:pPr>
            <a:r>
              <a:rPr lang="en-US" sz="46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84048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· Pipeline Analysis · Treatment Landscape · Market Access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1143000" cy="347472"/>
          </a:xfrm>
          <a:prstGeom prst="rect">
            <a:avLst>
              <a:gd name="adj" fmla="val 13158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4251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83080" y="4251960"/>
            <a:ext cx="1143000" cy="347472"/>
          </a:xfrm>
          <a:prstGeom prst="rect">
            <a:avLst>
              <a:gd name="adj" fmla="val 13158"/>
            </a:avLst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83080" y="4251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EU5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4251960"/>
            <a:ext cx="1143000" cy="347472"/>
          </a:xfrm>
          <a:prstGeom prst="rect">
            <a:avLst>
              <a:gd name="adj" fmla="val 13158"/>
            </a:avLst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08960" y="4251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Japan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6217920"/>
            <a:ext cx="11996928" cy="640080"/>
          </a:xfrm>
          <a:prstGeom prst="rect">
            <a:avLst/>
          </a:prstGeom>
          <a:solidFill>
            <a:srgbClr val="0D1A30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23620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Period: 2017–2030  |  Focus: High-Grade Glioma / GBM / CNS Tumors  |  16 Pipeline Candidates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0" y="6291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51792" cy="1005840"/>
          </a:xfrm>
          <a:prstGeom prst="rect">
            <a:avLst/>
          </a:prstGeom>
          <a:solidFill>
            <a:srgbClr val="111D3A"/>
          </a:solidFill>
          <a:ln w="12700">
            <a:solidFill>
              <a:srgbClr val="111D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</a:rPr>
              <a:t>AGENDA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Report Covers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11430000" cy="868680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54864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353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66420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CNS tumor incidence, population trends, and GLOBOCAN-calibrated growth rates for 7 markets (2017–2030)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11430000" cy="868680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86000"/>
            <a:ext cx="54864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0428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3591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Landscape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67004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distribution, tumor type breakdown (GBM, AA, Oligodendroglioma), gender &amp; age-specific profiles, and key biomarkers (H3K27M, MGMT)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291840"/>
            <a:ext cx="11430000" cy="868680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291840"/>
            <a:ext cx="54864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1012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3649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Landscape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67588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standard-of-care, patient share by treatment line (USA / EU5 / Japan), recurrence dynamics, and compliance rates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297680"/>
            <a:ext cx="11430000" cy="868680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29768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31596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4370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Drug Pipeline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6817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candidates in Phase I/II–III with probability of success, peak share, uptake curves, launch timelines, and clinical evidence summaries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5303520"/>
            <a:ext cx="11430000" cy="868680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5303520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32180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97280" y="53766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Access &amp; Pricing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568756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therapy for current and emerging treatments, RAR, PAP assumptions, and reimbursement access by geography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11D3A"/>
          </a:solidFill>
          <a:ln w="12700">
            <a:solidFill>
              <a:srgbClr val="11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</a:rPr>
              <a:t>EXECUTIVE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Market Metrics at a Glance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240280" cy="1645920"/>
          </a:xfrm>
          <a:prstGeom prst="rect">
            <a:avLst/>
          </a:prstGeom>
          <a:solidFill>
            <a:srgbClr val="111D3A"/>
          </a:solidFill>
          <a:ln w="1270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43000"/>
            <a:ext cx="22402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3258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~64,000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28600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CNS Cases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(2023, 7 countries)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24328" y="1143000"/>
            <a:ext cx="2240280" cy="1645920"/>
          </a:xfrm>
          <a:prstGeom prst="rect">
            <a:avLst/>
          </a:prstGeom>
          <a:solidFill>
            <a:srgbClr val="111D3A"/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24328" y="1143000"/>
            <a:ext cx="22402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13258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624328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Share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High-Grade Glioma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0056" y="1143000"/>
            <a:ext cx="2240280" cy="1645920"/>
          </a:xfrm>
          <a:prstGeom prst="rect">
            <a:avLst/>
          </a:prstGeom>
          <a:solidFill>
            <a:srgbClr val="111D3A"/>
          </a:solidFill>
          <a:ln w="12700">
            <a:solidFill>
              <a:srgbClr val="8B5CF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0056" y="1143000"/>
            <a:ext cx="22402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0056" y="13258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020056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Candidates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II/III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15784" y="1143000"/>
            <a:ext cx="2240280" cy="1645920"/>
          </a:xfrm>
          <a:prstGeom prst="rect">
            <a:avLst/>
          </a:prstGeom>
          <a:solidFill>
            <a:srgbClr val="111D3A"/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15784" y="1143000"/>
            <a:ext cx="22402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15784" y="13258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415784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Line Treatment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(HGG)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811512" y="1143000"/>
            <a:ext cx="2240280" cy="1645920"/>
          </a:xfrm>
          <a:prstGeom prst="rect">
            <a:avLst/>
          </a:prstGeom>
          <a:solidFill>
            <a:srgbClr val="111D3A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11512" y="1143000"/>
            <a:ext cx="22402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11512" y="13258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$475K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811512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Therapy Cost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(Ad-RTS, US/yr)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Strategic Findings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" y="3401568"/>
            <a:ext cx="11521440" cy="36576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611880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20440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dominates the high-grade glioma landscape — representing 52% of cases in the US, with MGMT unmethylation (66%) being the most clinically actionable biomarker.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215384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123944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1L treatment rate is high (95%) but 2L uptake drops sharply to 32%, indicating significant unmet need in the recurrent/refractory setting.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818888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727448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rich with 16 candidates, but clinical success rates remain modest — particularly for Phase II immunotherapy approaches.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542239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330952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Eflornithine + Lomustine and Regorafenib are best positioned with Phase III data and high POS (90% and 85% respectively) for near-term launches.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602589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934456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therapies and oncolytic immunotherapies command highest pricing ($135K–$475K/yr), reflecting innovation premiums in this underserved indication.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11D3A"/>
          </a:solidFill>
          <a:ln w="12700">
            <a:solidFill>
              <a:srgbClr val="11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</a:rPr>
              <a:t>SECTION 1 — EPIDEMIOLOGY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0233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Tumor Incidence by Country (2023)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807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341.6M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97480" y="1143000"/>
            <a:ext cx="5943600" cy="365760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1143000"/>
            <a:ext cx="5943600" cy="36576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3252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26,542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1.19%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1837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1214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124.5M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97480" y="1883664"/>
            <a:ext cx="5943600" cy="365760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97480" y="1883664"/>
            <a:ext cx="2115922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18836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9,442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1883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0.89%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8620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81.2M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97480" y="2624328"/>
            <a:ext cx="5943600" cy="365760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7480" y="2624328"/>
            <a:ext cx="1919783" cy="36576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32520" y="26243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8,579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2624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0.55%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319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6027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61.1M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97480" y="3364992"/>
            <a:ext cx="5943600" cy="365760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7480" y="3364992"/>
            <a:ext cx="1961388" cy="36576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33649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8,763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3364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0.58%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4059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43434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68.5M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97480" y="4105656"/>
            <a:ext cx="5943600" cy="365760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7480" y="4105656"/>
            <a:ext cx="1503731" cy="3657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32520" y="41056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6,706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0" y="4105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0.89%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" y="4800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50840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67.9M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97480" y="4846320"/>
            <a:ext cx="5943600" cy="365760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97480" y="4846320"/>
            <a:ext cx="1206551" cy="36576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32520" y="4846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5,383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05840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1.06%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0040" y="5541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0040" y="5824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48.7M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97480" y="5586984"/>
            <a:ext cx="5943600" cy="365760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97480" y="5586984"/>
            <a:ext cx="1206551" cy="365760"/>
          </a:xfrm>
          <a:prstGeom prst="rect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55869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5,396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058400" y="55869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1.10%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0040" y="651052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GLOBOCAN 2018-2030 · The Lancet Neurology · Internal modelling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11D3A"/>
          </a:solidFill>
          <a:ln w="12700">
            <a:solidFill>
              <a:srgbClr val="11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</a:rPr>
              <a:t>SECTION 2 — TUMOR LANDSCAPE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0233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Types, Grade Distribution &amp; Key Biomarkers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Type Breakdown — USA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996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Glioblastoma Multiforme (GBM)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1773936"/>
            <a:ext cx="3840480" cy="10972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73936"/>
            <a:ext cx="1997050" cy="109728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7373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52.0%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67128"/>
            <a:ext cx="146304" cy="14630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0939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Astrocytoma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368296"/>
            <a:ext cx="3840480" cy="10972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368296"/>
            <a:ext cx="576072" cy="109728"/>
          </a:xfrm>
          <a:prstGeom prst="rect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2331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15.0%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76148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6883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Anaplastic Astrocytoma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2962656"/>
            <a:ext cx="3840480" cy="10972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2962656"/>
            <a:ext cx="307238" cy="109728"/>
          </a:xfrm>
          <a:prstGeom prst="rect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8.0%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35584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2826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Oligodendroglioma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3557016"/>
            <a:ext cx="3840480" cy="10972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557016"/>
            <a:ext cx="268834" cy="10972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520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7.0%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95020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8770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Pilocytic Astrocytoma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4151376"/>
            <a:ext cx="3840480" cy="10972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151376"/>
            <a:ext cx="230429" cy="109728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41148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6.0%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544568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4714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DMG / DIPG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4745736"/>
            <a:ext cx="3840480" cy="10972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4745736"/>
            <a:ext cx="142098" cy="109728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6280" y="47091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3.7%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5138928"/>
            <a:ext cx="146304" cy="14630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50657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928" y="5340096"/>
            <a:ext cx="3840480" cy="10972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" y="5340096"/>
            <a:ext cx="318760" cy="109728"/>
          </a:xfrm>
          <a:prstGeom prst="rect">
            <a:avLst/>
          </a:prstGeom>
          <a:solidFill>
            <a:srgbClr val="64748B">
              <a:alpha val="7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6280" y="5303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8.3%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1005840"/>
            <a:ext cx="5486400" cy="5486400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92240" y="1097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Biomarkers &amp; Patient Stratifiers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92240" y="1463040"/>
            <a:ext cx="5303520" cy="27432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92240" y="1600200"/>
            <a:ext cx="5303520" cy="548640"/>
          </a:xfrm>
          <a:prstGeom prst="rect">
            <a:avLst/>
          </a:prstGeom>
          <a:solidFill>
            <a:srgbClr val="1A2E52">
              <a:alpha val="40000"/>
            </a:srgbClr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16367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498080" y="16276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Unmethylation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498080" y="1874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resistance to TMZ chemo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92240" y="2212848"/>
            <a:ext cx="5303520" cy="548640"/>
          </a:xfrm>
          <a:prstGeom prst="rect">
            <a:avLst/>
          </a:prstGeom>
          <a:solidFill>
            <a:srgbClr val="1A2E52">
              <a:alpha val="40000"/>
            </a:srgbClr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37960" y="22494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7498080" y="2240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H3K27 Mutated HGG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498080" y="24871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pediatric DIPG &amp; poor prognosis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92240" y="2825496"/>
            <a:ext cx="5303520" cy="548640"/>
          </a:xfrm>
          <a:prstGeom prst="rect">
            <a:avLst/>
          </a:prstGeom>
          <a:solidFill>
            <a:srgbClr val="1A2E52">
              <a:alpha val="40000"/>
            </a:srgbClr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2862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7498080" y="28529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High-Grade (III &amp; IV)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498080" y="309981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all CNS tumors requiring aggressive Rx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492240" y="3438144"/>
            <a:ext cx="5303520" cy="548640"/>
          </a:xfrm>
          <a:prstGeom prst="rect">
            <a:avLst/>
          </a:prstGeom>
          <a:solidFill>
            <a:srgbClr val="1A2E52">
              <a:alpha val="40000"/>
            </a:srgbClr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3796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7498080" y="346557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Prevalence (USA)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498080" y="371246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Gliomas more frequent in males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492240" y="4050792"/>
            <a:ext cx="5303520" cy="548640"/>
          </a:xfrm>
          <a:prstGeom prst="rect">
            <a:avLst/>
          </a:prstGeom>
          <a:solidFill>
            <a:srgbClr val="1A2E52">
              <a:alpha val="40000"/>
            </a:srgbClr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37960" y="40873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7498080" y="40782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≥65 at Diagnosis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498080" y="43251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age cohort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492240" y="4663440"/>
            <a:ext cx="5303520" cy="548640"/>
          </a:xfrm>
          <a:prstGeom prst="rect">
            <a:avLst/>
          </a:prstGeom>
          <a:solidFill>
            <a:srgbClr val="1A2E52">
              <a:alpha val="40000"/>
            </a:srgbClr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37960" y="47000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7498080" y="46908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1L Treatment Rate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498080" y="4937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access to frontline care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492240" y="5276088"/>
            <a:ext cx="5303520" cy="548640"/>
          </a:xfrm>
          <a:prstGeom prst="rect">
            <a:avLst/>
          </a:prstGeom>
          <a:solidFill>
            <a:srgbClr val="1A2E52">
              <a:alpha val="40000"/>
            </a:srgbClr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37960" y="53126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7498080" y="5303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2L Treatment Rate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7498080" y="5550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unmet need post-recurrence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492240" y="5888736"/>
            <a:ext cx="5303520" cy="548640"/>
          </a:xfrm>
          <a:prstGeom prst="rect">
            <a:avLst/>
          </a:prstGeom>
          <a:solidFill>
            <a:srgbClr val="1A2E52">
              <a:alpha val="40000"/>
            </a:srgbClr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37960" y="59253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2000" dirty="0"/>
          </a:p>
        </p:txBody>
      </p:sp>
      <p:sp>
        <p:nvSpPr>
          <p:cNvPr id="75" name="Text 73"/>
          <p:cNvSpPr/>
          <p:nvPr/>
        </p:nvSpPr>
        <p:spPr>
          <a:xfrm>
            <a:off x="7498080" y="59161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H3K27M in DIPG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7498080" y="616305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mutation in diffuse midline glioma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11D3A"/>
          </a:solidFill>
          <a:ln w="12700">
            <a:solidFill>
              <a:srgbClr val="11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</a:rPr>
              <a:t>SECTION 3 — TREATMENT LANDSCAPE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0233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Standard of Care &amp; Patient Share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657600" cy="384048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24528" y="1005840"/>
            <a:ext cx="3657600" cy="384048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24528" y="1005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005840"/>
            <a:ext cx="3657600" cy="384048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005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1572768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</a:rPr>
              <a:t>1ST 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938528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938528"/>
            <a:ext cx="420624" cy="402336"/>
          </a:xfrm>
          <a:prstGeom prst="rect">
            <a:avLst/>
          </a:prstGeom>
          <a:solidFill>
            <a:srgbClr val="3B82F6">
              <a:alpha val="6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0116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3272" y="20299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± RT/Chemo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24528" y="1938528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24528" y="1938528"/>
            <a:ext cx="384048" cy="402336"/>
          </a:xfrm>
          <a:prstGeom prst="rect">
            <a:avLst/>
          </a:prstGeom>
          <a:solidFill>
            <a:srgbClr val="3B82F6">
              <a:alpha val="6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0116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0299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± RT/Chemo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38160" y="1938528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1938528"/>
            <a:ext cx="420624" cy="402336"/>
          </a:xfrm>
          <a:prstGeom prst="rect">
            <a:avLst/>
          </a:prstGeom>
          <a:solidFill>
            <a:srgbClr val="3B82F6">
              <a:alpha val="6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11312" y="20116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51392" y="20299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± RT/Chemo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414016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414016"/>
            <a:ext cx="3182112" cy="402336"/>
          </a:xfrm>
          <a:prstGeom prst="rect">
            <a:avLst/>
          </a:prstGeom>
          <a:solidFill>
            <a:srgbClr val="06B6D4">
              <a:alpha val="6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487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" y="25054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TMZ + RT (Maintenance)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24528" y="2414016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24528" y="2414016"/>
            <a:ext cx="2980944" cy="402336"/>
          </a:xfrm>
          <a:prstGeom prst="rect">
            <a:avLst/>
          </a:prstGeom>
          <a:solidFill>
            <a:srgbClr val="06B6D4">
              <a:alpha val="6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2487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25054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TMZ + RT (Maintenance)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38160" y="2414016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2414016"/>
            <a:ext cx="3182112" cy="402336"/>
          </a:xfrm>
          <a:prstGeom prst="rect">
            <a:avLst/>
          </a:prstGeom>
          <a:solidFill>
            <a:srgbClr val="06B6D4">
              <a:alpha val="6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11312" y="2487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851392" y="25054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TMZ + RT (Maintenance)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2889504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2889504"/>
            <a:ext cx="54864" cy="402336"/>
          </a:xfrm>
          <a:prstGeom prst="rect">
            <a:avLst/>
          </a:prstGeom>
          <a:solidFill>
            <a:srgbClr val="8B5CF6">
              <a:alpha val="6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29626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33272" y="29809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TMZ Monotherapy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224528" y="2889504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24528" y="2889504"/>
            <a:ext cx="292608" cy="402336"/>
          </a:xfrm>
          <a:prstGeom prst="rect">
            <a:avLst/>
          </a:prstGeom>
          <a:solidFill>
            <a:srgbClr val="8B5CF6">
              <a:alpha val="6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29626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37760" y="29809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TMZ Monotherapy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138160" y="2889504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38160" y="2889504"/>
            <a:ext cx="54864" cy="402336"/>
          </a:xfrm>
          <a:prstGeom prst="rect">
            <a:avLst/>
          </a:prstGeom>
          <a:solidFill>
            <a:srgbClr val="8B5CF6">
              <a:alpha val="6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11312" y="29626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851392" y="29809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TMZ Monotherapy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20040" y="342900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</a:rPr>
              <a:t>2ND LINE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3767328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3767328"/>
            <a:ext cx="1645920" cy="402336"/>
          </a:xfrm>
          <a:prstGeom prst="rect">
            <a:avLst/>
          </a:prstGeom>
          <a:solidFill>
            <a:srgbClr val="3B82F6">
              <a:alpha val="6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3192" y="38404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33272" y="38587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Bevacizumab Monotherapy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224528" y="3767328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24528" y="3767328"/>
            <a:ext cx="731520" cy="402336"/>
          </a:xfrm>
          <a:prstGeom prst="rect">
            <a:avLst/>
          </a:prstGeom>
          <a:solidFill>
            <a:srgbClr val="3B82F6">
              <a:alpha val="6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97680" y="38404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937760" y="38587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Bevacizumab Monotherapy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138160" y="3767328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38160" y="3767328"/>
            <a:ext cx="1536192" cy="402336"/>
          </a:xfrm>
          <a:prstGeom prst="rect">
            <a:avLst/>
          </a:prstGeom>
          <a:solidFill>
            <a:srgbClr val="3B82F6">
              <a:alpha val="6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11312" y="38404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851392" y="38587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Bevacizumab Monotherapy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20040" y="4242816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0040" y="4242816"/>
            <a:ext cx="855878" cy="402336"/>
          </a:xfrm>
          <a:prstGeom prst="rect">
            <a:avLst/>
          </a:prstGeom>
          <a:solidFill>
            <a:srgbClr val="06B6D4">
              <a:alpha val="6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3192" y="43159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033272" y="43342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Bevacizumab Combination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224528" y="4242816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24528" y="4242816"/>
            <a:ext cx="731520" cy="402336"/>
          </a:xfrm>
          <a:prstGeom prst="rect">
            <a:avLst/>
          </a:prstGeom>
          <a:solidFill>
            <a:srgbClr val="06B6D4">
              <a:alpha val="6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97680" y="43159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937760" y="43342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Bevacizumab Combination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138160" y="4242816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138160" y="4242816"/>
            <a:ext cx="782726" cy="402336"/>
          </a:xfrm>
          <a:prstGeom prst="rect">
            <a:avLst/>
          </a:prstGeom>
          <a:solidFill>
            <a:srgbClr val="06B6D4">
              <a:alpha val="6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11312" y="43159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8851392" y="43342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Bevacizumab Combination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20040" y="4718304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0040" y="4718304"/>
            <a:ext cx="654710" cy="402336"/>
          </a:xfrm>
          <a:prstGeom prst="rect">
            <a:avLst/>
          </a:prstGeom>
          <a:solidFill>
            <a:srgbClr val="F59E0B">
              <a:alpha val="6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93192" y="47914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033272" y="48097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TMZ (Combo + Mono)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224528" y="4718304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224528" y="4718304"/>
            <a:ext cx="1097280" cy="402336"/>
          </a:xfrm>
          <a:prstGeom prst="rect">
            <a:avLst/>
          </a:prstGeom>
          <a:solidFill>
            <a:srgbClr val="F59E0B">
              <a:alpha val="6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97680" y="47914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4937760" y="48097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TMZ (Combo + Mono)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8138160" y="4718304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138160" y="4718304"/>
            <a:ext cx="727862" cy="402336"/>
          </a:xfrm>
          <a:prstGeom prst="rect">
            <a:avLst/>
          </a:prstGeom>
          <a:solidFill>
            <a:srgbClr val="F59E0B">
              <a:alpha val="6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211312" y="47914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19.9%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8851392" y="48097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TMZ (Combo + Mono)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320040" y="5193792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0040" y="5193792"/>
            <a:ext cx="501091" cy="402336"/>
          </a:xfrm>
          <a:prstGeom prst="rect">
            <a:avLst/>
          </a:prstGeom>
          <a:solidFill>
            <a:srgbClr val="64748B">
              <a:alpha val="6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93192" y="52669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13.7%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033272" y="52852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Systemic Therapies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224528" y="5193792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224528" y="5193792"/>
            <a:ext cx="1097280" cy="402336"/>
          </a:xfrm>
          <a:prstGeom prst="rect">
            <a:avLst/>
          </a:prstGeom>
          <a:solidFill>
            <a:srgbClr val="64748B">
              <a:alpha val="6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297680" y="52669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4937760" y="52852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Systemic Therapies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8138160" y="5193792"/>
            <a:ext cx="3657600" cy="402336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138160" y="5193792"/>
            <a:ext cx="610819" cy="402336"/>
          </a:xfrm>
          <a:prstGeom prst="rect">
            <a:avLst/>
          </a:prstGeom>
          <a:solidFill>
            <a:srgbClr val="64748B">
              <a:alpha val="6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211312" y="52669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8851392" y="52852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Systemic Therapies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320040" y="6510528"/>
            <a:ext cx="1152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JMCP 2019 · BMJ neuro-oncology · European treatment pattern studies · Internal assumptions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11D3A"/>
          </a:solidFill>
          <a:ln w="12700">
            <a:solidFill>
              <a:srgbClr val="11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SECTION 4 — PIPELINE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0233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Drug Landscape — 16 Candidates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0" y="347472"/>
            <a:ext cx="868680" cy="475488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0" y="34747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131552" y="347472"/>
            <a:ext cx="868680" cy="475488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31552" y="34747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119104" y="347472"/>
            <a:ext cx="868680" cy="475488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19104" y="34747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I/II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" y="1024128"/>
            <a:ext cx="11887200" cy="310896"/>
          </a:xfrm>
          <a:prstGeom prst="rect">
            <a:avLst/>
          </a:prstGeom>
          <a:solidFill>
            <a:srgbClr val="1A2E52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051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/ Candidate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11680" y="1051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91840" y="10515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0" y="1051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77840" y="1051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498080" y="1051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Launch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321040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326880" y="1051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Share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1168" y="1399032"/>
            <a:ext cx="11887200" cy="329184"/>
          </a:xfrm>
          <a:prstGeom prst="rect">
            <a:avLst/>
          </a:prstGeom>
          <a:solidFill>
            <a:srgbClr val="111D3A">
              <a:alpha val="70000"/>
            </a:srgbClr>
          </a:solidFill>
          <a:ln w="12700">
            <a:solidFill>
              <a:srgbClr val="1E2640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1453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Regorafenib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11680" y="145389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14538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Multi-kinase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14538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III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77840" y="14538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GBM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0" y="14538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321040" y="14538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26880" y="1453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 / 8.5%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1168" y="17922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 Sodium Crocetinate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011680" y="17922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Pharma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0" y="17922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Modulator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17922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III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77840" y="17922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Dx GBM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98080" y="17922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21040" y="179222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326880" y="17922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11.5% / 8.1%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1168" y="2075688"/>
            <a:ext cx="11887200" cy="329184"/>
          </a:xfrm>
          <a:prstGeom prst="rect">
            <a:avLst/>
          </a:prstGeom>
          <a:solidFill>
            <a:srgbClr val="111D3A">
              <a:alpha val="70000"/>
            </a:srgbClr>
          </a:solidFill>
          <a:ln w="12700">
            <a:solidFill>
              <a:srgbClr val="1E2640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" y="2130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Eflornithine + Lomustine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011680" y="21305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Orbus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91840" y="21305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 combo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21305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III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77840" y="21305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AA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98080" y="21305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321040" y="21305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326880" y="2130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 / 9.0%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01168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VB-111 (ofranergene)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011680" y="2468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VBL Therapeutics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291840" y="2468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Transfer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54880" y="2468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II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577840" y="2468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GBM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9808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321040" y="2468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9326880" y="2468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 / 10.2%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01168" y="2752344"/>
            <a:ext cx="11887200" cy="329184"/>
          </a:xfrm>
          <a:prstGeom prst="rect">
            <a:avLst/>
          </a:prstGeom>
          <a:solidFill>
            <a:srgbClr val="111D3A">
              <a:alpha val="70000"/>
            </a:srgbClr>
          </a:solidFill>
          <a:ln w="12700">
            <a:solidFill>
              <a:srgbClr val="1E2640">
                <a:alpha val="3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168" y="2807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Durvalumab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011680" y="28072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AstraZeneca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291840" y="28072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inhibitor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54880" y="28072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II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577840" y="2807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unmet GBM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498080" y="2807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321040" y="2807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9326880" y="2807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 / 6.0%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01168" y="31455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DNX-2401 + Pembrolizumab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011680" y="31455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DNAtrix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291840" y="31455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Oncolytic Immuno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754880" y="31455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II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77840" y="31455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GBM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498080" y="31455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321040" y="31455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9326880" y="3145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 / 6.0%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01168" y="3429000"/>
            <a:ext cx="11887200" cy="329184"/>
          </a:xfrm>
          <a:prstGeom prst="rect">
            <a:avLst/>
          </a:prstGeom>
          <a:solidFill>
            <a:srgbClr val="111D3A">
              <a:alpha val="70000"/>
            </a:srgbClr>
          </a:solidFill>
          <a:ln w="12700">
            <a:solidFill>
              <a:srgbClr val="1E2640">
                <a:alpha val="3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1168" y="34838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VAL-083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2011680" y="34838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DelMar Pharma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291840" y="34838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DNA-targeting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754880" y="348386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II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577840" y="34838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MGMT-unmet GBM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498080" y="34838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8321040" y="34838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9326880" y="34838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9.0% / 5.4%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201168" y="3822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ONC201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2011680" y="38221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Oncoceutics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3291840" y="38221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DRD2/ClpP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754880" y="38221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II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5577840" y="38221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K27M, rGBM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498080" y="3822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8321040" y="38221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9326880" y="38221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 / 5.1%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01168" y="4105656"/>
            <a:ext cx="11887200" cy="329184"/>
          </a:xfrm>
          <a:prstGeom prst="rect">
            <a:avLst/>
          </a:prstGeom>
          <a:solidFill>
            <a:srgbClr val="111D3A">
              <a:alpha val="70000"/>
            </a:srgbClr>
          </a:solidFill>
          <a:ln w="12700">
            <a:solidFill>
              <a:srgbClr val="1E2640">
                <a:alpha val="30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01168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Selinexor (KPT-330)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2011680" y="4160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KaryoPharma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3291840" y="4160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XPO1 inhibitor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754880" y="4160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II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5577840" y="4160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GBM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7498080" y="4160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8321040" y="4160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9326880" y="4160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11.5% / 6.9%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201168" y="4498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Paxalisib (GDC-0084)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2011680" y="44988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Kazia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3291840" y="44988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PI3K inhibitor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4754880" y="44988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II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5577840" y="44988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Dx GBM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7498080" y="44988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8321040" y="4498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9326880" y="4498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 / 4.5%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01168" y="4782312"/>
            <a:ext cx="11887200" cy="329184"/>
          </a:xfrm>
          <a:prstGeom prst="rect">
            <a:avLst/>
          </a:prstGeom>
          <a:solidFill>
            <a:srgbClr val="111D3A">
              <a:alpha val="70000"/>
            </a:srgbClr>
          </a:solidFill>
          <a:ln w="12700">
            <a:solidFill>
              <a:srgbClr val="1E2640">
                <a:alpha val="3000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01168" y="48371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AV-GBM-1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2011680" y="48371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Aivita Biomedical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3291840" y="48371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Vaccine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4754880" y="483717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II</a:t>
            </a: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5577840" y="483717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Dx GBM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7498080" y="48371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8321040" y="48371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9326880" y="48371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 / 4.5%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201168" y="51755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MDNA55</a:t>
            </a:r>
            <a:endParaRPr lang="en-US" sz="950" dirty="0"/>
          </a:p>
        </p:txBody>
      </p:sp>
      <p:sp>
        <p:nvSpPr>
          <p:cNvPr id="116" name="Text 114"/>
          <p:cNvSpPr/>
          <p:nvPr/>
        </p:nvSpPr>
        <p:spPr>
          <a:xfrm>
            <a:off x="2011680" y="51755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Medicenna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3291840" y="51755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IL4R targeted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4754880" y="51755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II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5577840" y="51755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GBM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7498080" y="51755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121" name="Text 119"/>
          <p:cNvSpPr/>
          <p:nvPr/>
        </p:nvSpPr>
        <p:spPr>
          <a:xfrm>
            <a:off x="8321040" y="51755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50" dirty="0"/>
          </a:p>
        </p:txBody>
      </p:sp>
      <p:sp>
        <p:nvSpPr>
          <p:cNvPr id="122" name="Text 120"/>
          <p:cNvSpPr/>
          <p:nvPr/>
        </p:nvSpPr>
        <p:spPr>
          <a:xfrm>
            <a:off x="9326880" y="51755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 / 5.7%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201168" y="5458968"/>
            <a:ext cx="11887200" cy="329184"/>
          </a:xfrm>
          <a:prstGeom prst="rect">
            <a:avLst/>
          </a:prstGeom>
          <a:solidFill>
            <a:srgbClr val="111D3A">
              <a:alpha val="70000"/>
            </a:srgbClr>
          </a:solidFill>
          <a:ln w="12700">
            <a:solidFill>
              <a:srgbClr val="1E2640">
                <a:alpha val="30000"/>
              </a:srgbClr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01168" y="5513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Everolimus (RAD001)</a:t>
            </a:r>
            <a:endParaRPr lang="en-US" sz="950" dirty="0"/>
          </a:p>
        </p:txBody>
      </p:sp>
      <p:sp>
        <p:nvSpPr>
          <p:cNvPr id="125" name="Text 123"/>
          <p:cNvSpPr/>
          <p:nvPr/>
        </p:nvSpPr>
        <p:spPr>
          <a:xfrm>
            <a:off x="2011680" y="55138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Novartis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3291840" y="55138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mTOR inhibitor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4754880" y="55138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II</a:t>
            </a:r>
            <a:endParaRPr lang="en-US" sz="950" dirty="0"/>
          </a:p>
        </p:txBody>
      </p:sp>
      <p:sp>
        <p:nvSpPr>
          <p:cNvPr id="128" name="Text 126"/>
          <p:cNvSpPr/>
          <p:nvPr/>
        </p:nvSpPr>
        <p:spPr>
          <a:xfrm>
            <a:off x="5577840" y="55138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LGG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7498080" y="5513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130" name="Text 128"/>
          <p:cNvSpPr/>
          <p:nvPr/>
        </p:nvSpPr>
        <p:spPr>
          <a:xfrm>
            <a:off x="8321040" y="55138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50" dirty="0"/>
          </a:p>
        </p:txBody>
      </p:sp>
      <p:sp>
        <p:nvSpPr>
          <p:cNvPr id="131" name="Text 129"/>
          <p:cNvSpPr/>
          <p:nvPr/>
        </p:nvSpPr>
        <p:spPr>
          <a:xfrm>
            <a:off x="9326880" y="55138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7.0% / 2.8%</a:t>
            </a:r>
            <a:endParaRPr lang="en-US" sz="900" dirty="0"/>
          </a:p>
        </p:txBody>
      </p:sp>
      <p:sp>
        <p:nvSpPr>
          <p:cNvPr id="132" name="Text 130"/>
          <p:cNvSpPr/>
          <p:nvPr/>
        </p:nvSpPr>
        <p:spPr>
          <a:xfrm>
            <a:off x="201168" y="5852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VBI-1901</a:t>
            </a:r>
            <a:endParaRPr lang="en-US" sz="950" dirty="0"/>
          </a:p>
        </p:txBody>
      </p:sp>
      <p:sp>
        <p:nvSpPr>
          <p:cNvPr id="133" name="Text 131"/>
          <p:cNvSpPr/>
          <p:nvPr/>
        </p:nvSpPr>
        <p:spPr>
          <a:xfrm>
            <a:off x="2011680" y="5852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VBI Vaccines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3291840" y="5852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Vaccine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4754880" y="58521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I/II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5577840" y="5852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GBM</a:t>
            </a:r>
            <a:endParaRPr lang="en-US" sz="900" dirty="0"/>
          </a:p>
        </p:txBody>
      </p:sp>
      <p:sp>
        <p:nvSpPr>
          <p:cNvPr id="137" name="Text 135"/>
          <p:cNvSpPr/>
          <p:nvPr/>
        </p:nvSpPr>
        <p:spPr>
          <a:xfrm>
            <a:off x="7498080" y="5852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50" dirty="0"/>
          </a:p>
        </p:txBody>
      </p:sp>
      <p:sp>
        <p:nvSpPr>
          <p:cNvPr id="138" name="Text 136"/>
          <p:cNvSpPr/>
          <p:nvPr/>
        </p:nvSpPr>
        <p:spPr>
          <a:xfrm>
            <a:off x="8321040" y="5852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50" dirty="0"/>
          </a:p>
        </p:txBody>
      </p:sp>
      <p:sp>
        <p:nvSpPr>
          <p:cNvPr id="139" name="Text 137"/>
          <p:cNvSpPr/>
          <p:nvPr/>
        </p:nvSpPr>
        <p:spPr>
          <a:xfrm>
            <a:off x="9326880" y="5852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 / 2.0%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201168" y="6135624"/>
            <a:ext cx="11887200" cy="329184"/>
          </a:xfrm>
          <a:prstGeom prst="rect">
            <a:avLst/>
          </a:prstGeom>
          <a:solidFill>
            <a:srgbClr val="111D3A">
              <a:alpha val="70000"/>
            </a:srgbClr>
          </a:solidFill>
          <a:ln w="12700">
            <a:solidFill>
              <a:srgbClr val="1E2640">
                <a:alpha val="30000"/>
              </a:srgbClr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201168" y="6190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INO-5401 + Cemiplimab</a:t>
            </a:r>
            <a:endParaRPr lang="en-US" sz="950" dirty="0"/>
          </a:p>
        </p:txBody>
      </p:sp>
      <p:sp>
        <p:nvSpPr>
          <p:cNvPr id="142" name="Text 140"/>
          <p:cNvSpPr/>
          <p:nvPr/>
        </p:nvSpPr>
        <p:spPr>
          <a:xfrm>
            <a:off x="2011680" y="61904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Inovio</a:t>
            </a:r>
            <a:endParaRPr lang="en-US" sz="900" dirty="0"/>
          </a:p>
        </p:txBody>
      </p:sp>
      <p:sp>
        <p:nvSpPr>
          <p:cNvPr id="143" name="Text 141"/>
          <p:cNvSpPr/>
          <p:nvPr/>
        </p:nvSpPr>
        <p:spPr>
          <a:xfrm>
            <a:off x="3291840" y="61904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vaccine</a:t>
            </a:r>
            <a:endParaRPr lang="en-US" sz="900" dirty="0"/>
          </a:p>
        </p:txBody>
      </p:sp>
      <p:sp>
        <p:nvSpPr>
          <p:cNvPr id="144" name="Text 142"/>
          <p:cNvSpPr/>
          <p:nvPr/>
        </p:nvSpPr>
        <p:spPr>
          <a:xfrm>
            <a:off x="4754880" y="6190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I/II</a:t>
            </a:r>
            <a:endParaRPr lang="en-US" sz="950" dirty="0"/>
          </a:p>
        </p:txBody>
      </p:sp>
      <p:sp>
        <p:nvSpPr>
          <p:cNvPr id="145" name="Text 143"/>
          <p:cNvSpPr/>
          <p:nvPr/>
        </p:nvSpPr>
        <p:spPr>
          <a:xfrm>
            <a:off x="5577840" y="61904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Dx GBM</a:t>
            </a:r>
            <a:endParaRPr lang="en-US" sz="900" dirty="0"/>
          </a:p>
        </p:txBody>
      </p:sp>
      <p:sp>
        <p:nvSpPr>
          <p:cNvPr id="146" name="Text 144"/>
          <p:cNvSpPr/>
          <p:nvPr/>
        </p:nvSpPr>
        <p:spPr>
          <a:xfrm>
            <a:off x="7498080" y="61904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147" name="Text 145"/>
          <p:cNvSpPr/>
          <p:nvPr/>
        </p:nvSpPr>
        <p:spPr>
          <a:xfrm>
            <a:off x="8321040" y="61904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50" dirty="0"/>
          </a:p>
        </p:txBody>
      </p:sp>
      <p:sp>
        <p:nvSpPr>
          <p:cNvPr id="148" name="Text 146"/>
          <p:cNvSpPr/>
          <p:nvPr/>
        </p:nvSpPr>
        <p:spPr>
          <a:xfrm>
            <a:off x="9326880" y="61904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 / 3.4%</a:t>
            </a:r>
            <a:endParaRPr lang="en-US" sz="900" dirty="0"/>
          </a:p>
        </p:txBody>
      </p:sp>
      <p:sp>
        <p:nvSpPr>
          <p:cNvPr id="149" name="Text 147"/>
          <p:cNvSpPr/>
          <p:nvPr/>
        </p:nvSpPr>
        <p:spPr>
          <a:xfrm>
            <a:off x="201168" y="65288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Ad-RTS-hIL-12</a:t>
            </a:r>
            <a:endParaRPr lang="en-US" sz="950" dirty="0"/>
          </a:p>
        </p:txBody>
      </p:sp>
      <p:sp>
        <p:nvSpPr>
          <p:cNvPr id="150" name="Text 148"/>
          <p:cNvSpPr/>
          <p:nvPr/>
        </p:nvSpPr>
        <p:spPr>
          <a:xfrm>
            <a:off x="2011680" y="65288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Ziopharm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3291840" y="65288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therapy</a:t>
            </a:r>
            <a:endParaRPr lang="en-US" sz="900" dirty="0"/>
          </a:p>
        </p:txBody>
      </p:sp>
      <p:sp>
        <p:nvSpPr>
          <p:cNvPr id="152" name="Text 150"/>
          <p:cNvSpPr/>
          <p:nvPr/>
        </p:nvSpPr>
        <p:spPr>
          <a:xfrm>
            <a:off x="4754880" y="65288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II</a:t>
            </a:r>
            <a:endParaRPr lang="en-US" sz="950" dirty="0"/>
          </a:p>
        </p:txBody>
      </p:sp>
      <p:sp>
        <p:nvSpPr>
          <p:cNvPr id="153" name="Text 151"/>
          <p:cNvSpPr/>
          <p:nvPr/>
        </p:nvSpPr>
        <p:spPr>
          <a:xfrm>
            <a:off x="5577840" y="65288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DIPG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7498080" y="65288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50" dirty="0"/>
          </a:p>
        </p:txBody>
      </p:sp>
      <p:sp>
        <p:nvSpPr>
          <p:cNvPr id="155" name="Text 153"/>
          <p:cNvSpPr/>
          <p:nvPr/>
        </p:nvSpPr>
        <p:spPr>
          <a:xfrm>
            <a:off x="8321040" y="65288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50" dirty="0"/>
          </a:p>
        </p:txBody>
      </p:sp>
      <p:sp>
        <p:nvSpPr>
          <p:cNvPr id="156" name="Text 154"/>
          <p:cNvSpPr/>
          <p:nvPr/>
        </p:nvSpPr>
        <p:spPr>
          <a:xfrm>
            <a:off x="9326880" y="65288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 / 3.0%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11D3A"/>
          </a:solidFill>
          <a:ln w="12700">
            <a:solidFill>
              <a:srgbClr val="11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SECTION 5 — MARKET ACCESS &amp; PRICING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02336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Therapy — Current &amp; Emerging Treatments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486400" cy="329184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Standard of Care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399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Treatment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88920" y="13990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USA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343400" y="1399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EU5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719072"/>
            <a:ext cx="5486400" cy="47548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719072"/>
            <a:ext cx="41148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5564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± RT / Chemo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88920" y="175564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43400" y="17556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267712"/>
            <a:ext cx="5486400" cy="47548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267712"/>
            <a:ext cx="41148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30428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TMZ + RT (Maintenance)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88920" y="23042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43400" y="23042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816352"/>
            <a:ext cx="5486400" cy="47548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816352"/>
            <a:ext cx="41148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85292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TMZ Monotherapy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8892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43400" y="28529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364992"/>
            <a:ext cx="5486400" cy="47548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364992"/>
            <a:ext cx="41148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40156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Bevacizumab Mono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88920" y="34015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43400" y="34015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3913632"/>
            <a:ext cx="5486400" cy="47548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913632"/>
            <a:ext cx="41148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95020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Bevacizumab Combination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88920" y="39502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43400" y="39502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4462272"/>
            <a:ext cx="5486400" cy="47548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462272"/>
            <a:ext cx="41148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449884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TMZ (Combo + Mono)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788920" y="449884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343400" y="44988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0040" y="5010912"/>
            <a:ext cx="5486400" cy="47548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5010912"/>
            <a:ext cx="41148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504748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Systemic Therapies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788920" y="50474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343400" y="50474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$12K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17920" y="1005840"/>
            <a:ext cx="5806440" cy="329184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1005840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Pipeline Pricing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17920" y="1399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Drug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281160" y="13990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USA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0698480" y="1399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EU5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17920" y="1719072"/>
            <a:ext cx="5806440" cy="47548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17920" y="1719072"/>
            <a:ext cx="4114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36792" y="17373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Ad-RTS-hIL-12 + Veledimex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36792" y="199339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Therapy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281160" y="175564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$475K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698480" y="175564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$261K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217920" y="2267712"/>
            <a:ext cx="5806440" cy="47548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17920" y="2267712"/>
            <a:ext cx="4114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36792" y="22860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Tasadenoturev (DNX-2401)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336792" y="254203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Oncolytic Immuno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9281160" y="230428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$165K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0698480" y="230428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$91K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217920" y="2816352"/>
            <a:ext cx="5806440" cy="47548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17920" y="2816352"/>
            <a:ext cx="4114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36792" y="28346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Everolimus (RAD001)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336792" y="309067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mTOR inhibitor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9281160" y="285292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$142K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0698480" y="285292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$78K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217920" y="3364992"/>
            <a:ext cx="5806440" cy="47548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217920" y="3364992"/>
            <a:ext cx="4114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36792" y="338328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INO-5401 + Cemiplimab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336792" y="363931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Vaccine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9281160" y="34015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$135K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0698480" y="340156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$74K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6217920" y="3913632"/>
            <a:ext cx="5806440" cy="47548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217920" y="3913632"/>
            <a:ext cx="4114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36792" y="39319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Eflornithine + Lomustine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336792" y="41879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 combo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9281160" y="395020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$128K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10698480" y="395020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$70K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6217920" y="4462272"/>
            <a:ext cx="5806440" cy="47548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17920" y="4462272"/>
            <a:ext cx="4114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36792" y="44805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ONC201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6336792" y="473659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DRD2/ClpP agonist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9281160" y="449884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10698480" y="449884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$83K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6217920" y="5010912"/>
            <a:ext cx="5806440" cy="47548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217920" y="5010912"/>
            <a:ext cx="4114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336792" y="50292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Selinexor (KPT-330)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6336792" y="528523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XPO1 inhibitor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9281160" y="504748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10698480" y="504748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$66K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6217920" y="5559552"/>
            <a:ext cx="5806440" cy="475488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217920" y="5559552"/>
            <a:ext cx="4114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36792" y="55778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VAL-083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6336792" y="583387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DNA-targeting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9281160" y="559612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$137K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0698480" y="559612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$75K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320040" y="6510528"/>
            <a:ext cx="1152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EU5 pricing estimated at ~55% of US list price based on reference pricing benchmarks · RAR (US: 15%, EU5/Japan: 10%) · PAP (US: 10%)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51792" cy="22860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-731520"/>
            <a:ext cx="3200400" cy="32004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</a:rPr>
              <a:t>STRATEGIC IMPLICATIONS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 &amp; Recommendations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3891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361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period 2017–2030 · USA, EU5, Japan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11475720" cy="804672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03120"/>
            <a:ext cx="50292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157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 Need in 2L+ Remains High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0352" y="245059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32% of recurrent HGG patients receive 2nd line therapy, and just 25% reach 3rd line — creating a significant opportunity for novel agents with demonstrated OS benefit.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11475720" cy="804672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99232"/>
            <a:ext cx="50292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054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the Strategic Priority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0352" y="3346704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accounts for 52% of US CNS cases with poor prognosis (median OS &lt;15 months). MGMT-unmethylated patients (66%) represent the largest unaddressed population.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895344"/>
            <a:ext cx="11475720" cy="804672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95344"/>
            <a:ext cx="50292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Pipeline Leaders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30352" y="424281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Eflornithine + Lomustine (Ph III, 90% POS), Regorafenib (Ph III, 85% POS), and VB-111 (Ph II, 85% POS) are best positioned for market entry by 2024–2025.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791456"/>
            <a:ext cx="11475720" cy="804672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791456"/>
            <a:ext cx="50292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 Insight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0352" y="5138928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therapies range from $90K to $475K/year (US). Gene and immuno-oncology therapies command premium pricing, while small molecule agents (TMZ-class) face generic pressure.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5687568"/>
            <a:ext cx="11475720" cy="804672"/>
          </a:xfrm>
          <a:prstGeom prst="rect">
            <a:avLst/>
          </a:prstGeom>
          <a:solidFill>
            <a:srgbClr val="111D3A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5687568"/>
            <a:ext cx="50292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5742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Market Sizing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0352" y="6035040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leads with ~26,500 cases (CAGR 1.19%), followed by Japan (~9,400) and Germany/Italy (~8,500 each). EU5 pricing is estimated at ~55% of US, Japan at ~55%.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Cancer Pharma Forecasting</dc:title>
  <dc:subject>PptxGenJS Presentation</dc:subject>
  <dc:creator>Pharma Analytics</dc:creator>
  <cp:lastModifiedBy>Pharma Analytics</cp:lastModifiedBy>
  <cp:revision>1</cp:revision>
  <dcterms:created xsi:type="dcterms:W3CDTF">2026-03-29T16:36:09Z</dcterms:created>
  <dcterms:modified xsi:type="dcterms:W3CDTF">2026-03-29T16:36:09Z</dcterms:modified>
</cp:coreProperties>
</file>